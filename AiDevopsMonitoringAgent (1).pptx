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 Slab" pitchFamily="2" charset="0"/>
      <p:regular r:id="rId13"/>
      <p:bold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Slab Light" pitchFamily="2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939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-3-5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-3-11.sv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-3-8.svg"/><Relationship Id="rId14" Type="http://schemas.openxmlformats.org/officeDocument/2006/relationships/image" Target="../media/image-3-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-10-6.svg"/><Relationship Id="rId12" Type="http://schemas.openxmlformats.org/officeDocument/2006/relationships/image" Target="../media/image-10-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-10-3.svg"/><Relationship Id="rId10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-10-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07" y="2451378"/>
            <a:ext cx="4990267" cy="33268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3226713"/>
            <a:ext cx="624506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AiDevopsMonitoringAgent</a:t>
            </a:r>
            <a:endParaRPr lang="en-US" sz="3900" dirty="0"/>
          </a:p>
        </p:txBody>
      </p:sp>
      <p:sp>
        <p:nvSpPr>
          <p:cNvPr id="5" name="Text 1"/>
          <p:cNvSpPr/>
          <p:nvPr/>
        </p:nvSpPr>
        <p:spPr>
          <a:xfrm>
            <a:off x="6280190" y="414444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Real-Time Infrastructure Monitoring and Incident Analysis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6280190" y="468522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Ashutosh Thakur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February 2026</a:t>
            </a:r>
            <a:endParaRPr lang="en-US" sz="1550" dirty="0"/>
          </a:p>
        </p:txBody>
      </p:sp>
      <p:sp>
        <p:nvSpPr>
          <p:cNvPr id="7" name="Rectangle 6"/>
          <p:cNvSpPr/>
          <p:nvPr/>
        </p:nvSpPr>
        <p:spPr>
          <a:xfrm>
            <a:off x="12525256" y="7696475"/>
            <a:ext cx="2057400" cy="50330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1050"/>
            <a:ext cx="61387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Monitoring Challenge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9796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infrastructure demands real-time visibility, but traditional monitoring approaches create bottlenecks that impact reliability and increase operational overhead.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656284"/>
            <a:ext cx="4215289" cy="2451973"/>
          </a:xfrm>
          <a:prstGeom prst="roundRect">
            <a:avLst>
              <a:gd name="adj" fmla="val 4475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2656284"/>
            <a:ext cx="91440" cy="24519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3588" y="2877503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Manual Monitoring Bottlenecks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83588" y="3616881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Engineering teams spend hours parsing dashboards and logs across distributed systems, leading to delayed detection of critical issues.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2656284"/>
            <a:ext cx="4215408" cy="2451973"/>
          </a:xfrm>
          <a:prstGeom prst="roundRect">
            <a:avLst>
              <a:gd name="adj" fmla="val 4475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577" y="2656284"/>
            <a:ext cx="91440" cy="24519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97235" y="28775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Alert Fatigue Crisis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497235" y="3306723"/>
            <a:ext cx="37043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Silos of monitoring tools generate thousands of alerts daily. Teams become desensitized, causing genuine incidents to be overlooked.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9621203" y="2656284"/>
            <a:ext cx="4215289" cy="2451973"/>
          </a:xfrm>
          <a:prstGeom prst="roundRect">
            <a:avLst>
              <a:gd name="adj" fmla="val 4475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8343" y="2656284"/>
            <a:ext cx="91440" cy="24519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11001" y="2877503"/>
            <a:ext cx="30295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Expertise-Dependent RCA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9911001" y="3306723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cause analysis requires deep domain knowledge spanning multiple system layers, creating dependency on senior engineers.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793790" y="5306616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30" y="5306616"/>
            <a:ext cx="91440" cy="21418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83588" y="5527834"/>
            <a:ext cx="25398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Disconnected Tooling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1083588" y="5957054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monitoring lacks intelligent correlation between metrics, logs, and traces—forcing engineers to manually connect the dots.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5207437" y="5306616"/>
            <a:ext cx="4215408" cy="2141815"/>
          </a:xfrm>
          <a:prstGeom prst="roundRect">
            <a:avLst>
              <a:gd name="adj" fmla="val 5123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577" y="5306616"/>
            <a:ext cx="91440" cy="21418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97235" y="55278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Cost of Downtime</a:t>
            </a:r>
            <a:endParaRPr lang="en-US" sz="1950" dirty="0"/>
          </a:p>
        </p:txBody>
      </p:sp>
      <p:sp>
        <p:nvSpPr>
          <p:cNvPr id="23" name="Text 16"/>
          <p:cNvSpPr/>
          <p:nvPr/>
        </p:nvSpPr>
        <p:spPr>
          <a:xfrm>
            <a:off x="5497235" y="5957054"/>
            <a:ext cx="37043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minute of service disruption impacts revenue, user trust, and operational stability—making rapid response non-negotiable.</a:t>
            </a:r>
            <a:endParaRPr lang="en-US" sz="1550" dirty="0"/>
          </a:p>
        </p:txBody>
      </p:sp>
      <p:sp>
        <p:nvSpPr>
          <p:cNvPr id="24" name="Rectangle 23"/>
          <p:cNvSpPr/>
          <p:nvPr/>
        </p:nvSpPr>
        <p:spPr>
          <a:xfrm>
            <a:off x="12525256" y="7696475"/>
            <a:ext cx="2057400" cy="50330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53" y="1182529"/>
            <a:ext cx="5174575" cy="586454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85153" y="1245513"/>
            <a:ext cx="5098732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 Intelligent, Automated Solution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5985153" y="1752481"/>
            <a:ext cx="8146494" cy="324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AiDevopsMonitoringAgent bridges cutting-edge AI capabilities with DevOps monitoring principles, transforming reactive alerting into proactive observability.</a:t>
            </a:r>
            <a:endParaRPr lang="en-US" sz="950" dirty="0"/>
          </a:p>
        </p:txBody>
      </p:sp>
      <p:sp>
        <p:nvSpPr>
          <p:cNvPr id="6" name="Shape 2"/>
          <p:cNvSpPr/>
          <p:nvPr/>
        </p:nvSpPr>
        <p:spPr>
          <a:xfrm>
            <a:off x="5985153" y="2165152"/>
            <a:ext cx="8146494" cy="1267778"/>
          </a:xfrm>
          <a:prstGeom prst="roundRect">
            <a:avLst>
              <a:gd name="adj" fmla="val 1475"/>
            </a:avLst>
          </a:prstGeom>
          <a:solidFill>
            <a:srgbClr val="E9ECF2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9811" y="2289810"/>
            <a:ext cx="373975" cy="37397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12681" y="2392680"/>
            <a:ext cx="168235" cy="1682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109811" y="2742009"/>
            <a:ext cx="2170867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AI-Driven Anomaly Detection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6109811" y="2983706"/>
            <a:ext cx="7897178" cy="324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metric ingestion from Prometheus targets combined with intelligent pattern recognition identifies subtle anomalies before they escalate.</a:t>
            </a:r>
            <a:endParaRPr lang="en-US" sz="950" dirty="0"/>
          </a:p>
        </p:txBody>
      </p:sp>
      <p:sp>
        <p:nvSpPr>
          <p:cNvPr id="11" name="Shape 5"/>
          <p:cNvSpPr/>
          <p:nvPr/>
        </p:nvSpPr>
        <p:spPr>
          <a:xfrm>
            <a:off x="5985153" y="3511153"/>
            <a:ext cx="8146494" cy="1105495"/>
          </a:xfrm>
          <a:prstGeom prst="roundRect">
            <a:avLst>
              <a:gd name="adj" fmla="val 1692"/>
            </a:avLst>
          </a:prstGeom>
          <a:solidFill>
            <a:srgbClr val="E9ECF2"/>
          </a:solidFill>
          <a:ln/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9811" y="3635812"/>
            <a:ext cx="373975" cy="37397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212681" y="3738682"/>
            <a:ext cx="168235" cy="16823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09811" y="4088011"/>
            <a:ext cx="2567583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LLM-Powered Root Cause Analysis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6109811" y="4329708"/>
            <a:ext cx="7897178" cy="162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human-readable incident summaries and causal chains using Gemini's contextual understanding of your infrastructure.</a:t>
            </a:r>
            <a:endParaRPr lang="en-US" sz="950" dirty="0"/>
          </a:p>
        </p:txBody>
      </p:sp>
      <p:sp>
        <p:nvSpPr>
          <p:cNvPr id="16" name="Shape 8"/>
          <p:cNvSpPr/>
          <p:nvPr/>
        </p:nvSpPr>
        <p:spPr>
          <a:xfrm>
            <a:off x="5985153" y="4694873"/>
            <a:ext cx="8146494" cy="1105495"/>
          </a:xfrm>
          <a:prstGeom prst="roundRect">
            <a:avLst>
              <a:gd name="adj" fmla="val 1692"/>
            </a:avLst>
          </a:prstGeom>
          <a:solidFill>
            <a:srgbClr val="E9ECF2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9811" y="4819531"/>
            <a:ext cx="373975" cy="373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6212681" y="4922401"/>
            <a:ext cx="168235" cy="16823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109811" y="5271730"/>
            <a:ext cx="1564719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Self-Service Platform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6109811" y="5513427"/>
            <a:ext cx="7897178" cy="162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Multi-user architecture with role-based isolation enables teams to configure monitoring independently while maintaining data boundaries.</a:t>
            </a:r>
            <a:endParaRPr lang="en-US" sz="950" dirty="0"/>
          </a:p>
        </p:txBody>
      </p:sp>
      <p:sp>
        <p:nvSpPr>
          <p:cNvPr id="21" name="Shape 11"/>
          <p:cNvSpPr/>
          <p:nvPr/>
        </p:nvSpPr>
        <p:spPr>
          <a:xfrm>
            <a:off x="5985153" y="5878592"/>
            <a:ext cx="8146494" cy="1105495"/>
          </a:xfrm>
          <a:prstGeom prst="roundRect">
            <a:avLst>
              <a:gd name="adj" fmla="val 1692"/>
            </a:avLst>
          </a:prstGeom>
          <a:solidFill>
            <a:srgbClr val="E9ECF2"/>
          </a:solidFill>
          <a:ln/>
        </p:spPr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9811" y="6003250"/>
            <a:ext cx="373975" cy="373975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212681" y="6106120"/>
            <a:ext cx="168235" cy="168235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6109811" y="6455450"/>
            <a:ext cx="1782723" cy="194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Intelligent Alert Routing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6109811" y="6697147"/>
            <a:ext cx="7897178" cy="162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dispatches contextual alerts via Email and Slack integrations when thresholds breach, with severity-based escalation paths.</a:t>
            </a:r>
            <a:endParaRPr lang="en-US" sz="950" dirty="0"/>
          </a:p>
        </p:txBody>
      </p:sp>
      <p:sp>
        <p:nvSpPr>
          <p:cNvPr id="26" name="Rectangle 25"/>
          <p:cNvSpPr/>
          <p:nvPr/>
        </p:nvSpPr>
        <p:spPr>
          <a:xfrm>
            <a:off x="12525256" y="7696475"/>
            <a:ext cx="2057400" cy="50330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383" y="559356"/>
            <a:ext cx="7019211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 Overview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9383" y="1550908"/>
            <a:ext cx="13071634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distributed, cloud-native architecture integrates battle-tested monitoring tools with modern AI/ML pipelines while maintaining operational observability.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9383" y="2383988"/>
            <a:ext cx="194786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83" y="2692241"/>
            <a:ext cx="6440210" cy="22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9383" y="2835354"/>
            <a:ext cx="2835712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React Frontend Interface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9383" y="3254573"/>
            <a:ext cx="644021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dashboard built with React communicates with backend via REST APIs, providing real-time updates and configuration management.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10807" y="2383988"/>
            <a:ext cx="194786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807" y="2692241"/>
            <a:ext cx="6440210" cy="228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10807" y="2835354"/>
            <a:ext cx="2833449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FastAPI Backend Engine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10807" y="3254573"/>
            <a:ext cx="644021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Python-based API layer handles authentication, request routing, and orchestrates the monitoring pipeline with async processing.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79383" y="4209812"/>
            <a:ext cx="194786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83" y="4498538"/>
            <a:ext cx="6440210" cy="228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9383" y="4661178"/>
            <a:ext cx="3171349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Prometheus Scraping Layer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79383" y="5080397"/>
            <a:ext cx="644021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target discovery fetches metrics at configurable intervals, supporting file-based service discovery for containerized workloads.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410807" y="4209812"/>
            <a:ext cx="194786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5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807" y="4498538"/>
            <a:ext cx="6440210" cy="228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10807" y="4661178"/>
            <a:ext cx="2496503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Gemini LLM Analysis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10807" y="5080397"/>
            <a:ext cx="644021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Batched metrics fed to Gemini 2.5 Pro for anomaly classification, severity scoring, and automated root cause generation.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79383" y="6035635"/>
            <a:ext cx="194786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5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83" y="6304955"/>
            <a:ext cx="6440210" cy="228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9383" y="6487001"/>
            <a:ext cx="2615327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MongoDB Data Storage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779383" y="6906220"/>
            <a:ext cx="644021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document storage segregates incidents, anomalies, and RCA data by user for compliance and isolation requirements.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410807" y="6035635"/>
            <a:ext cx="194786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5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807" y="6304955"/>
            <a:ext cx="6440210" cy="228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10807" y="6487001"/>
            <a:ext cx="2640330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Langfuse Observability</a:t>
            </a:r>
            <a:endParaRPr lang="en-US" sz="1900" dirty="0"/>
          </a:p>
        </p:txBody>
      </p:sp>
      <p:sp>
        <p:nvSpPr>
          <p:cNvPr id="27" name="Text 19"/>
          <p:cNvSpPr/>
          <p:nvPr/>
        </p:nvSpPr>
        <p:spPr>
          <a:xfrm>
            <a:off x="7410807" y="6906220"/>
            <a:ext cx="644021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Tracks LLM token usage, response latency, and costs—ensuring transparent AI operations and budget optimization.</a:t>
            </a:r>
            <a:endParaRPr lang="en-US" sz="1500" dirty="0"/>
          </a:p>
        </p:txBody>
      </p:sp>
      <p:sp>
        <p:nvSpPr>
          <p:cNvPr id="28" name="Rectangle 27"/>
          <p:cNvSpPr/>
          <p:nvPr/>
        </p:nvSpPr>
        <p:spPr>
          <a:xfrm>
            <a:off x="12525256" y="7696475"/>
            <a:ext cx="2057400" cy="50330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5542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Stack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57233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Enterprise-grade components selected for performance, maintainability, and production readiness in high-availability environments.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311479"/>
            <a:ext cx="325326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 Infrastructure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2881908"/>
            <a:ext cx="6279356" cy="218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3.11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type annotations for robust error handling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framework providing OpenAPI documentation and validation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Uvicorn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ASGI server for high-concurrency request handling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Prometheus Client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libraries for metric instrumentation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Pydantic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data validation and settings management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23114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 Stack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564874" y="2881908"/>
            <a:ext cx="6279356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18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hooks for component state management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Vite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modern build tool with hot module replacement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Tailwind CSS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utility-first responsive styling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TypeScript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providing compile-time type safety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Recharts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interactive time-series visualizations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55581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AI/ML Engine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93790" y="6126242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2.5 Pro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primary analysis with 1M+ token context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Gemma 3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fallback model for cost-sensitive queries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LangChain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prompt templating and chain orchestration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Langfuse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LLM tracing and cost attribution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555581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&amp; Monitoring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564874" y="6126242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 Atlas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managed document storage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Prometheus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time-series metric collection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Exporters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proprietary system metrics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 logging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structured analysis pipelines</a:t>
            </a:r>
            <a:endParaRPr lang="en-US" sz="1550" dirty="0"/>
          </a:p>
        </p:txBody>
      </p:sp>
      <p:sp>
        <p:nvSpPr>
          <p:cNvPr id="12" name="Rectangle 11"/>
          <p:cNvSpPr/>
          <p:nvPr/>
        </p:nvSpPr>
        <p:spPr>
          <a:xfrm>
            <a:off x="12525256" y="7696475"/>
            <a:ext cx="2057400" cy="50330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0442" y="588169"/>
            <a:ext cx="567868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Features and Workflow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0442" y="1411367"/>
            <a:ext cx="13269516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automated pipeline that transforms raw metrics into actionable intelligence—reducing incident response time from hours to minutes.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03770" y="1828086"/>
            <a:ext cx="22860" cy="5813227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5" name="Shape 3"/>
          <p:cNvSpPr/>
          <p:nvPr/>
        </p:nvSpPr>
        <p:spPr>
          <a:xfrm>
            <a:off x="6636425" y="2007989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6" name="Shape 4"/>
          <p:cNvSpPr/>
          <p:nvPr/>
        </p:nvSpPr>
        <p:spPr>
          <a:xfrm>
            <a:off x="7123867" y="1828086"/>
            <a:ext cx="382667" cy="382667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7187625" y="185993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77828" y="1886545"/>
            <a:ext cx="288678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Dynamic Target Registration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0442" y="2239685"/>
            <a:ext cx="5784175" cy="75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add Prometheus scrape targets through the React dashboard. Configuration stored in MongoDB with validation rules preventing malformed inputs.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83673" y="2980015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1" name="Shape 9"/>
          <p:cNvSpPr/>
          <p:nvPr/>
        </p:nvSpPr>
        <p:spPr>
          <a:xfrm>
            <a:off x="7123867" y="2800112"/>
            <a:ext cx="382667" cy="382667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7187625" y="2831961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65783" y="2858572"/>
            <a:ext cx="291560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Continuous Metric Collection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165783" y="3211711"/>
            <a:ext cx="5784175" cy="75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Prometheus discovers targets via file-based service discovery, scraping endpoints at 15-second intervals by default. Metrics batched by user identity for analysis.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36425" y="3835479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7123867" y="3655576"/>
            <a:ext cx="382667" cy="382667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17" name="Text 15"/>
          <p:cNvSpPr/>
          <p:nvPr/>
        </p:nvSpPr>
        <p:spPr>
          <a:xfrm>
            <a:off x="7187625" y="368742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879050" y="3714036"/>
            <a:ext cx="358556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AI-Powered Anomaly Classification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80442" y="4067175"/>
            <a:ext cx="5784175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analyzes metric patterns, comparing against historical baselines. Assigns severity scores from Critical to Warning based on impact potential.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83673" y="4690943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7123867" y="4511040"/>
            <a:ext cx="382667" cy="382667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22" name="Text 20"/>
          <p:cNvSpPr/>
          <p:nvPr/>
        </p:nvSpPr>
        <p:spPr>
          <a:xfrm>
            <a:off x="7187625" y="4542889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65783" y="4569500"/>
            <a:ext cx="342530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Automated Root Cause Generation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165783" y="4922639"/>
            <a:ext cx="5784175" cy="75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every detected anomaly, LLM analyzes correlated metrics, logs, and system topology. Produces plain-English causal chains with supporting evidence.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36425" y="5546408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26" name="Shape 24"/>
          <p:cNvSpPr/>
          <p:nvPr/>
        </p:nvSpPr>
        <p:spPr>
          <a:xfrm>
            <a:off x="7123867" y="5366504"/>
            <a:ext cx="382667" cy="382667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27" name="Text 25"/>
          <p:cNvSpPr/>
          <p:nvPr/>
        </p:nvSpPr>
        <p:spPr>
          <a:xfrm>
            <a:off x="7187625" y="5398353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506153" y="5424964"/>
            <a:ext cx="295846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Multi-Channel Alert Dispatch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80442" y="5778103"/>
            <a:ext cx="5784175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thresholds breach, system triggers immediate notifications. Email provides detailed RCA while Slack sends summary to on-call channels.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83673" y="6401872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31" name="Shape 29"/>
          <p:cNvSpPr/>
          <p:nvPr/>
        </p:nvSpPr>
        <p:spPr>
          <a:xfrm>
            <a:off x="7123867" y="6221968"/>
            <a:ext cx="382667" cy="382667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32" name="Text 30"/>
          <p:cNvSpPr/>
          <p:nvPr/>
        </p:nvSpPr>
        <p:spPr>
          <a:xfrm>
            <a:off x="7187625" y="6253817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165783" y="628042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Chat Assistant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8165783" y="6633567"/>
            <a:ext cx="5784175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query infrastructure state using natural language. Agent translates questions to PromQL, fetches metrics, and explains trends conversationally.</a:t>
            </a:r>
            <a:endParaRPr lang="en-US" sz="1300" dirty="0"/>
          </a:p>
        </p:txBody>
      </p:sp>
      <p:sp>
        <p:nvSpPr>
          <p:cNvPr id="35" name="Rectangle 34"/>
          <p:cNvSpPr/>
          <p:nvPr/>
        </p:nvSpPr>
        <p:spPr>
          <a:xfrm>
            <a:off x="12525256" y="7696475"/>
            <a:ext cx="2057400" cy="50330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3837" y="984409"/>
            <a:ext cx="4079081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and DevOps Integration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123837" y="1570553"/>
            <a:ext cx="10382726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Leverages Google's Gemini 2.5 Pro for production-grade AI analysis, combining speed, accuracy, and cost-efficiency for real-world monitoring workloads.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837" y="1843921"/>
            <a:ext cx="1457920" cy="1457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23837" y="3411022"/>
            <a:ext cx="1799511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LLM Selection Strategy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123837" y="3669030"/>
            <a:ext cx="2513767" cy="875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2.5 Pro provides optimal balance: 128K context window handles complex queries, multimodal support future-proofed, and predictable pricing per 1M tokens.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784" y="1843921"/>
            <a:ext cx="1457920" cy="1457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46784" y="3411022"/>
            <a:ext cx="1950482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Natural Language Output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746784" y="3669030"/>
            <a:ext cx="2513767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incident descriptions in plain English, translating technical metrics into business-impact statements accessible to all stakeholders—not just SREs.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731" y="1843921"/>
            <a:ext cx="1457920" cy="1457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69731" y="3411022"/>
            <a:ext cx="1645801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PromQL Integration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7369731" y="3669030"/>
            <a:ext cx="2513767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Prometheus query execution through Gemini's code interpreter. Translates user questions into efficient PromQL, avoiding manual query writing.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2678" y="1843921"/>
            <a:ext cx="1458039" cy="14580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992678" y="3411141"/>
            <a:ext cx="2119432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Dynamic Service Discovery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9992678" y="3669149"/>
            <a:ext cx="2513886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File-based SD automatically identifies scrape targets as infrastructure changes. JSON configuration reloads without restart—enabling GitOps workflows.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3837" y="4719399"/>
            <a:ext cx="1457920" cy="14579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23837" y="6286500"/>
            <a:ext cx="1731526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Configurable Batching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2123837" y="6544508"/>
            <a:ext cx="2513767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Adjust metric collection intervals from 5 seconds to 60 seconds based on workload volatility. Longer intervals reduce costs; shorter windows enable faster detection.</a:t>
            </a:r>
            <a:endParaRPr lang="en-US" sz="1000" dirty="0"/>
          </a:p>
        </p:txBody>
      </p:sp>
      <p:sp>
        <p:nvSpPr>
          <p:cNvPr id="19" name="Rectangle 18"/>
          <p:cNvSpPr/>
          <p:nvPr/>
        </p:nvSpPr>
        <p:spPr>
          <a:xfrm>
            <a:off x="12525256" y="7696475"/>
            <a:ext cx="2057400" cy="50330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543" y="648295"/>
            <a:ext cx="7502604" cy="56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Security, Scalability, and Reliability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3543" y="1543169"/>
            <a:ext cx="13183314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Enterprise-grade security controls and horizontal scaling architecture ensure the system remains available and secure as infrastructure grows.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23543" y="2169795"/>
            <a:ext cx="4133731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Authentication &amp; Access Control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3543" y="2673668"/>
            <a:ext cx="6371034" cy="238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Authentication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refresh token rotation every 7 days prevents session hijacking</a:t>
            </a:r>
            <a:endParaRPr lang="en-US" sz="14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Argon2 Password Hashing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memory-hard security against GPU cracking</a:t>
            </a:r>
            <a:endParaRPr lang="en-US" sz="14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Rate Limiting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sliding window counters to prevent abuse and DDoS attacks</a:t>
            </a:r>
            <a:endParaRPr lang="en-US" sz="14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Access Control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enforces read-only vs. admin permissions across users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43443" y="2169795"/>
            <a:ext cx="3182779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Isolation &amp; Tenancy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543443" y="2673668"/>
            <a:ext cx="6371034" cy="2108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Per-User Segregation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ensures queries cannot access other users' incidents or configurations</a:t>
            </a:r>
            <a:endParaRPr lang="en-US" sz="14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Database-Level Enforcement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adds WHERE clauses automatically—preventing accidental leaks</a:t>
            </a:r>
            <a:endParaRPr lang="en-US" sz="14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Encrypted at Rest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MongoDB Atlas transparent data encryption with customer-managed keys</a:t>
            </a:r>
            <a:endParaRPr lang="en-US" sz="14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Field-Level Encryption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sensitive credentials in target configurations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43" y="5301258"/>
            <a:ext cx="4394359" cy="7235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4399" y="6189583"/>
            <a:ext cx="2260997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Stateless Backend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04399" y="6570940"/>
            <a:ext cx="4032647" cy="82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instances process requests independently, allowing horizontal scaling via Kubernetes replicas as traffic increases.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902" y="5301258"/>
            <a:ext cx="4394478" cy="7235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8757" y="6189583"/>
            <a:ext cx="2260997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Auto-Scaling Storage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298757" y="6570940"/>
            <a:ext cx="4032766" cy="82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 Atlas automatically provisions additional shards based on metric volume—no manual intervention needed.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2379" y="5301258"/>
            <a:ext cx="4394359" cy="7235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93235" y="6189583"/>
            <a:ext cx="2260997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Async Processing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9693235" y="6570940"/>
            <a:ext cx="4032647" cy="55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Non-blocking metric analysis ensures frontend stays responsive even during anomaly storms.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12525256" y="7696475"/>
            <a:ext cx="2057400" cy="50330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3105"/>
            <a:ext cx="893099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 and Future Enhancements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5083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innovation roadmap addresses current technical constraints while expanding platform capabilities for next-generation infrastructure.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6899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Current Limitations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93790" y="3285292"/>
            <a:ext cx="6279356" cy="1903571"/>
          </a:xfrm>
          <a:prstGeom prst="roundRect">
            <a:avLst>
              <a:gd name="adj" fmla="val 5764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3285292"/>
            <a:ext cx="91440" cy="19035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3588" y="35065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LLM Latency Impact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83588" y="4015026"/>
            <a:ext cx="576834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API response times (200-500ms) add delay to real-time detection. Mitigated via batch processing but may miss sub-second anomalies.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93790" y="5387221"/>
            <a:ext cx="6279356" cy="1586032"/>
          </a:xfrm>
          <a:prstGeom prst="roundRect">
            <a:avLst>
              <a:gd name="adj" fmla="val 691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30" y="5387221"/>
            <a:ext cx="91440" cy="158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83588" y="56084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Token Constraints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083588" y="6116955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 window limits metrics volume per analysis batch. Large clusters require strategic metric selection to stay within budget.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564874" y="26899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Planned Features</a:t>
            </a:r>
            <a:endParaRPr lang="en-US" sz="2300" dirty="0"/>
          </a:p>
        </p:txBody>
      </p:sp>
      <p:sp>
        <p:nvSpPr>
          <p:cNvPr id="14" name="Shape 10"/>
          <p:cNvSpPr/>
          <p:nvPr/>
        </p:nvSpPr>
        <p:spPr>
          <a:xfrm>
            <a:off x="7564874" y="3285292"/>
            <a:ext cx="6279356" cy="1903571"/>
          </a:xfrm>
          <a:prstGeom prst="roundRect">
            <a:avLst>
              <a:gd name="adj" fmla="val 5764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014" y="3285292"/>
            <a:ext cx="91440" cy="19035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54672" y="35065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Predictive Alerting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7854672" y="4015026"/>
            <a:ext cx="576834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trend analysis using time-series forecasting to predict threshold breaches before they occur—shifting from reactive to proactive.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564874" y="5387221"/>
            <a:ext cx="6279356" cy="1586032"/>
          </a:xfrm>
          <a:prstGeom prst="roundRect">
            <a:avLst>
              <a:gd name="adj" fmla="val 6918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014" y="5387221"/>
            <a:ext cx="91440" cy="158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54672" y="56084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Metric Filtering</a:t>
            </a:r>
            <a:endParaRPr lang="en-US" sz="1950" dirty="0"/>
          </a:p>
        </p:txBody>
      </p:sp>
      <p:sp>
        <p:nvSpPr>
          <p:cNvPr id="21" name="Text 15"/>
          <p:cNvSpPr/>
          <p:nvPr/>
        </p:nvSpPr>
        <p:spPr>
          <a:xfrm>
            <a:off x="7854672" y="6116955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advanced metric filtering by service, environment, severity, or time range to reduce noise and improve analysis precision.</a:t>
            </a:r>
            <a:endParaRPr lang="en-US" sz="1550" dirty="0"/>
          </a:p>
        </p:txBody>
      </p:sp>
      <p:sp>
        <p:nvSpPr>
          <p:cNvPr id="22" name="Rectangle 21"/>
          <p:cNvSpPr/>
          <p:nvPr/>
        </p:nvSpPr>
        <p:spPr>
          <a:xfrm>
            <a:off x="12525256" y="7696475"/>
            <a:ext cx="2057400" cy="50330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707" y="927973"/>
            <a:ext cx="7597259" cy="54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Transform Your Monitoring Strategy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02707" y="1787962"/>
            <a:ext cx="13224986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AiDevopsMonitoringAgent represents the convergence of AI and DevOps—delivering production-ready monitoring that reduces mean time to resolution and enables proactive infrastructure management.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02707" y="2492931"/>
            <a:ext cx="6534745" cy="1931670"/>
          </a:xfrm>
          <a:prstGeom prst="roundRect">
            <a:avLst>
              <a:gd name="adj" fmla="val 1364"/>
            </a:avLst>
          </a:prstGeom>
          <a:solidFill>
            <a:srgbClr val="E9ECF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24" y="2668548"/>
            <a:ext cx="527090" cy="52709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23223" y="2813447"/>
            <a:ext cx="237173" cy="2371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8324" y="3351133"/>
            <a:ext cx="219622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+ DevOps Fusion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78324" y="3718917"/>
            <a:ext cx="6183511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Bridges intelligent analysis with operational expertise, enabling teams to focus on strategic improvements rather than alert chasing.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392948" y="2492931"/>
            <a:ext cx="6534745" cy="1931670"/>
          </a:xfrm>
          <a:prstGeom prst="roundRect">
            <a:avLst>
              <a:gd name="adj" fmla="val 1364"/>
            </a:avLst>
          </a:prstGeom>
          <a:solidFill>
            <a:srgbClr val="E9ECF2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8565" y="2668548"/>
            <a:ext cx="527090" cy="52709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713464" y="2813447"/>
            <a:ext cx="237173" cy="2371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68565" y="3351133"/>
            <a:ext cx="2606635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Faster Incident Response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7568565" y="3718917"/>
            <a:ext cx="6183511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root cause generation cuts diagnosis time from hours to seconds—minimizing downtime impact on business operations.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702707" y="4580096"/>
            <a:ext cx="6534745" cy="1931670"/>
          </a:xfrm>
          <a:prstGeom prst="roundRect">
            <a:avLst>
              <a:gd name="adj" fmla="val 1364"/>
            </a:avLst>
          </a:prstGeom>
          <a:solidFill>
            <a:srgbClr val="E9ECF2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324" y="4755713"/>
            <a:ext cx="527090" cy="52709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23223" y="4900613"/>
            <a:ext cx="237173" cy="23717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78324" y="5438299"/>
            <a:ext cx="219622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Multi-User Ready</a:t>
            </a:r>
            <a:endParaRPr lang="en-US" sz="1700" dirty="0"/>
          </a:p>
        </p:txBody>
      </p:sp>
      <p:sp>
        <p:nvSpPr>
          <p:cNvPr id="18" name="Text 10"/>
          <p:cNvSpPr/>
          <p:nvPr/>
        </p:nvSpPr>
        <p:spPr>
          <a:xfrm>
            <a:off x="878324" y="5806083"/>
            <a:ext cx="6183511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Production-hardened architecture supports enterprise-scale teams with data isolation, role-based access, and horizontal scaling to hundreds of users.</a:t>
            </a:r>
            <a:endParaRPr lang="en-US" sz="1350" dirty="0"/>
          </a:p>
        </p:txBody>
      </p:sp>
      <p:sp>
        <p:nvSpPr>
          <p:cNvPr id="19" name="Shape 11"/>
          <p:cNvSpPr/>
          <p:nvPr/>
        </p:nvSpPr>
        <p:spPr>
          <a:xfrm>
            <a:off x="7392948" y="4580096"/>
            <a:ext cx="6534745" cy="1931670"/>
          </a:xfrm>
          <a:prstGeom prst="roundRect">
            <a:avLst>
              <a:gd name="adj" fmla="val 1364"/>
            </a:avLst>
          </a:prstGeom>
          <a:solidFill>
            <a:srgbClr val="E9ECF2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8565" y="4755713"/>
            <a:ext cx="527090" cy="527090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713464" y="4900613"/>
            <a:ext cx="237173" cy="23717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568565" y="5438299"/>
            <a:ext cx="240149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Proactive Observability</a:t>
            </a:r>
            <a:endParaRPr lang="en-US" sz="1700" dirty="0"/>
          </a:p>
        </p:txBody>
      </p:sp>
      <p:sp>
        <p:nvSpPr>
          <p:cNvPr id="23" name="Text 13"/>
          <p:cNvSpPr/>
          <p:nvPr/>
        </p:nvSpPr>
        <p:spPr>
          <a:xfrm>
            <a:off x="7568565" y="5806083"/>
            <a:ext cx="6183511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Moves beyond reactive alerting to predictive insights and auto-remediation—transforming monitoring from cost center to competitive advantage.</a:t>
            </a:r>
            <a:endParaRPr lang="en-US" sz="1350" dirty="0"/>
          </a:p>
        </p:txBody>
      </p:sp>
      <p:sp>
        <p:nvSpPr>
          <p:cNvPr id="24" name="Text 14"/>
          <p:cNvSpPr/>
          <p:nvPr/>
        </p:nvSpPr>
        <p:spPr>
          <a:xfrm>
            <a:off x="966192" y="6861572"/>
            <a:ext cx="12961501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"The future of infrastructure monitoring isn't about generating more alerts—it's about generating better understanding. AiDevopsMonitoringAgent delivers just that."</a:t>
            </a:r>
            <a:endParaRPr lang="en-US" sz="1350" dirty="0"/>
          </a:p>
        </p:txBody>
      </p:sp>
      <p:sp>
        <p:nvSpPr>
          <p:cNvPr id="25" name="Shape 15"/>
          <p:cNvSpPr/>
          <p:nvPr/>
        </p:nvSpPr>
        <p:spPr>
          <a:xfrm>
            <a:off x="702707" y="6686669"/>
            <a:ext cx="22860" cy="614839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26" name="Rectangle 25"/>
          <p:cNvSpPr/>
          <p:nvPr/>
        </p:nvSpPr>
        <p:spPr>
          <a:xfrm>
            <a:off x="12525256" y="7696475"/>
            <a:ext cx="2057400" cy="50330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1302</Words>
  <Application>Microsoft Office PowerPoint</Application>
  <PresentationFormat>Custom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 Slab</vt:lpstr>
      <vt:lpstr>Arial</vt:lpstr>
      <vt:lpstr>Roboto</vt:lpstr>
      <vt:lpstr>Roboto Slab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Ashutosh Thakur</cp:lastModifiedBy>
  <cp:revision>3</cp:revision>
  <dcterms:created xsi:type="dcterms:W3CDTF">2026-02-17T08:15:06Z</dcterms:created>
  <dcterms:modified xsi:type="dcterms:W3CDTF">2026-02-17T08:30:55Z</dcterms:modified>
</cp:coreProperties>
</file>